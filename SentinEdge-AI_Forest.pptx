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6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2901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hare.google/nrDVcggJPgYza9gpf" TargetMode="External"/><Relationship Id="rId7" Type="http://schemas.openxmlformats.org/officeDocument/2006/relationships/hyperlink" Target="https://kabatone.com/resources/cctv-video-analytic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viact.ai/video-analytics-solution/perimeter-intrusion-detection" TargetMode="External"/><Relationship Id="rId5" Type="http://schemas.openxmlformats.org/officeDocument/2006/relationships/hyperlink" Target="https://share.google/YXExumJ1e29tTulKD" TargetMode="External"/><Relationship Id="rId4" Type="http://schemas.openxmlformats.org/officeDocument/2006/relationships/hyperlink" Target="https://www.newindianexpress.com/india/2026/Feb/26/bsf-to-replace-human-surveillance-with-ai-powered-monitoring-syste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4040" y="274320"/>
            <a:ext cx="2926080" cy="2926080"/>
          </a:xfrm>
          <a:prstGeom prst="ellipse">
            <a:avLst/>
          </a:prstGeom>
          <a:solidFill>
            <a:srgbClr val="C89B3C">
              <a:alpha val="18000"/>
            </a:srgbClr>
          </a:solidFill>
          <a:ln w="12700">
            <a:solidFill>
              <a:srgbClr val="C89B3C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09160"/>
            <a:ext cx="2286000" cy="2286000"/>
          </a:xfrm>
          <a:prstGeom prst="ellipse">
            <a:avLst/>
          </a:prstGeom>
          <a:solidFill>
            <a:srgbClr val="76965B">
              <a:alpha val="25000"/>
            </a:srgbClr>
          </a:solidFill>
          <a:ln w="12700">
            <a:solidFill>
              <a:srgbClr val="76965B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57421" y="5530329"/>
            <a:ext cx="457200" cy="457200"/>
          </a:xfrm>
          <a:prstGeom prst="ellipse">
            <a:avLst/>
          </a:prstGeom>
          <a:solidFill>
            <a:srgbClr val="C89B3C">
              <a:alpha val="40000"/>
            </a:srgbClr>
          </a:solidFill>
          <a:ln w="12700">
            <a:solidFill>
              <a:srgbClr val="C89B3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0" y="3977640"/>
            <a:ext cx="310896" cy="310896"/>
          </a:xfrm>
          <a:prstGeom prst="ellipse">
            <a:avLst/>
          </a:prstGeom>
          <a:solidFill>
            <a:srgbClr val="76965B">
              <a:alpha val="45000"/>
            </a:srgbClr>
          </a:solidFill>
          <a:ln w="12700">
            <a:solidFill>
              <a:srgbClr val="76965B">
                <a:alpha val="45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2070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57276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6F1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SentinEdge-AI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786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D7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Video Analytics for Border Surveillance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6118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BFC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video analytics that sees through darkness, fog and rain — and raises the alarm in under 50 milliseconds.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800600"/>
            <a:ext cx="2148840" cy="713232"/>
          </a:xfrm>
          <a:prstGeom prst="roundRect">
            <a:avLst>
              <a:gd name="adj" fmla="val 46154"/>
            </a:avLst>
          </a:prstGeom>
          <a:solidFill>
            <a:srgbClr val="20372A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80060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E7C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SentinEdge</a:t>
            </a:r>
            <a:endParaRPr lang="en-US" sz="110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E7C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Innovators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92824" y="1165860"/>
            <a:ext cx="5193792" cy="3314700"/>
          </a:xfrm>
          <a:prstGeom prst="roundRect">
            <a:avLst>
              <a:gd name="adj" fmla="val 1010"/>
            </a:avLst>
          </a:prstGeom>
          <a:solidFill>
            <a:srgbClr val="20372A"/>
          </a:solidFill>
          <a:ln w="12700">
            <a:solidFill>
              <a:srgbClr val="34503B"/>
            </a:solidFill>
            <a:prstDash val="solid"/>
          </a:ln>
          <a:effectLst>
            <a:outerShdw blurRad="127000" dist="25400" dir="5400000" algn="bl" rotWithShape="0">
              <a:srgbClr val="3C4F38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949440" y="148132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70078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217627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E7C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239572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6F1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Video Analytics for Border Surveillance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287121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E7C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0906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6F1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Automation (Software)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356616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E7C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378561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6F1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/ Edge AI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4261104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1495044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E7C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169621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6F1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Force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2590800" y="219456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E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SentinEdge-AI: Edge Video Analytics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76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Force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327648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362456" y="113385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Sentry AI — Value Pyramid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737360" y="1965960"/>
            <a:ext cx="2103120" cy="1078992"/>
          </a:xfrm>
          <a:prstGeom prst="roundRect">
            <a:avLst>
              <a:gd name="adj" fmla="val 6780"/>
            </a:avLst>
          </a:prstGeom>
          <a:solidFill>
            <a:srgbClr val="2F5D34"/>
          </a:solidFill>
          <a:ln w="12700">
            <a:solidFill>
              <a:srgbClr val="2F5D34"/>
            </a:solidFill>
            <a:prstDash val="solid"/>
          </a:ln>
          <a:effectLst>
            <a:outerShdw blurRad="127000" dist="25400" dir="5400000" algn="bl" rotWithShape="0">
              <a:srgbClr val="3C4F38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737360" y="1965960"/>
            <a:ext cx="2103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88720" y="3300984"/>
            <a:ext cx="3200400" cy="1078992"/>
          </a:xfrm>
          <a:prstGeom prst="roundRect">
            <a:avLst>
              <a:gd name="adj" fmla="val 6780"/>
            </a:avLst>
          </a:prstGeom>
          <a:solidFill>
            <a:srgbClr val="76965B"/>
          </a:solidFill>
          <a:ln w="12700">
            <a:solidFill>
              <a:srgbClr val="76965B"/>
            </a:solidFill>
            <a:prstDash val="solid"/>
          </a:ln>
          <a:effectLst>
            <a:outerShdw blurRad="127000" dist="25400" dir="5400000" algn="bl" rotWithShape="0">
              <a:srgbClr val="3C4F38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188720" y="3300984"/>
            <a:ext cx="3200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636008"/>
            <a:ext cx="4297680" cy="1078992"/>
          </a:xfrm>
          <a:prstGeom prst="roundRect">
            <a:avLst>
              <a:gd name="adj" fmla="val 6780"/>
            </a:avLst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  <a:effectLst>
            <a:outerShdw blurRad="127000" dist="25400" dir="5400000" algn="bl" rotWithShape="0">
              <a:srgbClr val="3C4F38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" y="4636008"/>
            <a:ext cx="4297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23560" y="1920240"/>
            <a:ext cx="6108192" cy="1280160"/>
          </a:xfrm>
          <a:prstGeom prst="roundRect">
            <a:avLst>
              <a:gd name="adj" fmla="val 4286"/>
            </a:avLst>
          </a:prstGeom>
          <a:solidFill>
            <a:srgbClr val="DFEBDC"/>
          </a:solidFill>
          <a:ln w="12700">
            <a:solidFill>
              <a:srgbClr val="DFEB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97880" y="203911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897880" y="2340864"/>
            <a:ext cx="5577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3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intrusions through zero-lux dark, fog, or monsoon rain, and fires the siren in under 50ms — quicker than a tired sentry can react.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23560" y="3383280"/>
            <a:ext cx="6108192" cy="1280160"/>
          </a:xfrm>
          <a:prstGeom prst="roundRect">
            <a:avLst>
              <a:gd name="adj" fmla="val 4286"/>
            </a:avLst>
          </a:prstGeom>
          <a:solidFill>
            <a:srgbClr val="ECF0DF"/>
          </a:solidFill>
          <a:ln w="12700">
            <a:solidFill>
              <a:srgbClr val="ECF0D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350215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69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803904"/>
            <a:ext cx="5577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3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camera feeds become AI sentries, combining YOLOv10 detection, ByteTrack identity, Zero-DCE low-light restore, and pose analysis for crawling or scaling.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23560" y="4846320"/>
            <a:ext cx="6108192" cy="1280160"/>
          </a:xfrm>
          <a:prstGeom prst="roundRect">
            <a:avLst>
              <a:gd name="adj" fmla="val 4286"/>
            </a:avLst>
          </a:prstGeom>
          <a:solidFill>
            <a:srgbClr val="F6EBCF"/>
          </a:solidFill>
          <a:ln w="12700">
            <a:solidFill>
              <a:srgbClr val="F6EBC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97880" y="496519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5897880" y="5266944"/>
            <a:ext cx="5577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3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completely offline, reusing legacy CCTV cameras as-is, and syncs under 5KB of telemetry instead of raw video.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3886200" y="109728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E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76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Force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327648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6070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Sentry AI — Technical Architecture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08176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3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ingestion  →  low-light restoration  →  detection &amp; tracking  →  geo-fencing  →  sub-50ms local alert  +  &lt;5KB telemetry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975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8B9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PIPELINE — ON DEVICE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2606040" cy="1078992"/>
          </a:xfrm>
          <a:prstGeom prst="roundRect">
            <a:avLst>
              <a:gd name="adj" fmla="val 5932"/>
            </a:avLst>
          </a:prstGeom>
          <a:solidFill>
            <a:srgbClr val="ECF0DF"/>
          </a:solidFill>
          <a:ln w="12700">
            <a:solidFill>
              <a:srgbClr val="7696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" y="2432304"/>
            <a:ext cx="2350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69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ingestion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" y="2761488"/>
            <a:ext cx="2350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43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GStreamer + OpenCV,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43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CCTV feeds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2743200"/>
            <a:ext cx="219456" cy="201168"/>
          </a:xfrm>
          <a:prstGeom prst="rightArrow">
            <a:avLst/>
          </a:prstGeom>
          <a:solidFill>
            <a:srgbClr val="BFCDB0"/>
          </a:solidFill>
          <a:ln w="12700">
            <a:solidFill>
              <a:srgbClr val="BFCD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55848" y="2304288"/>
            <a:ext cx="2606040" cy="1078992"/>
          </a:xfrm>
          <a:prstGeom prst="roundRect">
            <a:avLst>
              <a:gd name="adj" fmla="val 5932"/>
            </a:avLst>
          </a:prstGeom>
          <a:solidFill>
            <a:srgbClr val="F6EBCF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83864" y="2432304"/>
            <a:ext cx="2350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Zero-DCE / DCP restoration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483864" y="2761488"/>
            <a:ext cx="2350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43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zero-lux, fog,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43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frames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53328" y="2743200"/>
            <a:ext cx="219456" cy="201168"/>
          </a:xfrm>
          <a:prstGeom prst="rightArrow">
            <a:avLst/>
          </a:prstGeom>
          <a:solidFill>
            <a:srgbClr val="BFCDB0"/>
          </a:solidFill>
          <a:ln w="12700">
            <a:solidFill>
              <a:srgbClr val="BFCD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2304288"/>
            <a:ext cx="2606040" cy="1078992"/>
          </a:xfrm>
          <a:prstGeom prst="roundRect">
            <a:avLst>
              <a:gd name="adj" fmla="val 5932"/>
            </a:avLst>
          </a:prstGeom>
          <a:solidFill>
            <a:srgbClr val="DFEBDC"/>
          </a:solidFill>
          <a:ln w="12700">
            <a:solidFill>
              <a:srgbClr val="2F5D3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82512" y="2432304"/>
            <a:ext cx="2350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YOLOv10 + ByteTrack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82512" y="2761488"/>
            <a:ext cx="2350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43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train,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43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 inference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51976" y="2743200"/>
            <a:ext cx="219456" cy="201168"/>
          </a:xfrm>
          <a:prstGeom prst="rightArrow">
            <a:avLst/>
          </a:prstGeom>
          <a:solidFill>
            <a:srgbClr val="BFCDB0"/>
          </a:solidFill>
          <a:ln w="12700">
            <a:solidFill>
              <a:srgbClr val="BFCD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53144" y="2304288"/>
            <a:ext cx="2606040" cy="1078992"/>
          </a:xfrm>
          <a:prstGeom prst="roundRect">
            <a:avLst>
              <a:gd name="adj" fmla="val 5932"/>
            </a:avLst>
          </a:prstGeom>
          <a:solidFill>
            <a:srgbClr val="ECF0DF"/>
          </a:solidFill>
          <a:ln w="12700">
            <a:solidFill>
              <a:srgbClr val="76965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81160" y="2432304"/>
            <a:ext cx="2350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69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Geo-fencing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281160" y="2761488"/>
            <a:ext cx="2350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43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spatial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43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check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360152" y="3456432"/>
            <a:ext cx="201168" cy="237744"/>
          </a:xfrm>
          <a:prstGeom prst="downArrow">
            <a:avLst/>
          </a:prstGeom>
          <a:solidFill>
            <a:srgbClr val="BFCDB0"/>
          </a:solidFill>
          <a:ln w="12700">
            <a:solidFill>
              <a:srgbClr val="BFCD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54496" y="3767328"/>
            <a:ext cx="2606040" cy="960120"/>
          </a:xfrm>
          <a:prstGeom prst="roundRect">
            <a:avLst>
              <a:gd name="adj" fmla="val 6667"/>
            </a:avLst>
          </a:prstGeom>
          <a:solidFill>
            <a:srgbClr val="DFEBDC"/>
          </a:solidFill>
          <a:ln w="12700">
            <a:solidFill>
              <a:srgbClr val="2F5D3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82512" y="3895344"/>
            <a:ext cx="2350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Siren trigger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382512" y="4224528"/>
            <a:ext cx="23500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43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activation, &lt;50ms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53144" y="3767328"/>
            <a:ext cx="2606040" cy="960120"/>
          </a:xfrm>
          <a:prstGeom prst="roundRect">
            <a:avLst>
              <a:gd name="adj" fmla="val 6667"/>
            </a:avLst>
          </a:prstGeom>
          <a:solidFill>
            <a:srgbClr val="F6EBCF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81160" y="3895344"/>
            <a:ext cx="2350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sync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281160" y="4224528"/>
            <a:ext cx="23500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43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&lt;5KB event, to HQ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754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8B9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CONSOLE &amp; SERVICES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461504" y="4754880"/>
            <a:ext cx="201168" cy="237744"/>
          </a:xfrm>
          <a:prstGeom prst="downArrow">
            <a:avLst/>
          </a:prstGeom>
          <a:solidFill>
            <a:srgbClr val="BFCDB0"/>
          </a:solidFill>
          <a:ln w="12700">
            <a:solidFill>
              <a:srgbClr val="BFCDB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5047488"/>
            <a:ext cx="3584448" cy="960120"/>
          </a:xfrm>
          <a:prstGeom prst="roundRect">
            <a:avLst>
              <a:gd name="adj" fmla="val 6667"/>
            </a:avLst>
          </a:prstGeom>
          <a:solidFill>
            <a:srgbClr val="ECF0DF"/>
          </a:solidFill>
          <a:ln w="12700">
            <a:solidFill>
              <a:srgbClr val="76965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85216" y="5175504"/>
            <a:ext cx="3328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69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85216" y="5504688"/>
            <a:ext cx="33284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43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operator console, live map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34256" y="5047488"/>
            <a:ext cx="3584448" cy="960120"/>
          </a:xfrm>
          <a:prstGeom prst="roundRect">
            <a:avLst>
              <a:gd name="adj" fmla="val 6667"/>
            </a:avLst>
          </a:prstGeom>
          <a:solidFill>
            <a:srgbClr val="F6EBCF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462272" y="5175504"/>
            <a:ext cx="3328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462272" y="5504688"/>
            <a:ext cx="33284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43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event store, geo-fence rules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11312" y="5047488"/>
            <a:ext cx="3584448" cy="960120"/>
          </a:xfrm>
          <a:prstGeom prst="roundRect">
            <a:avLst>
              <a:gd name="adj" fmla="val 6667"/>
            </a:avLst>
          </a:prstGeom>
          <a:solidFill>
            <a:srgbClr val="DFEBDC"/>
          </a:solidFill>
          <a:ln w="12700">
            <a:solidFill>
              <a:srgbClr val="2F5D3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339328" y="5175504"/>
            <a:ext cx="3328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8339328" y="5504688"/>
            <a:ext cx="33284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43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and telemetry API layer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3675888" y="9521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E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76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Force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327648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584448" cy="3429000"/>
          </a:xfrm>
          <a:prstGeom prst="roundRect">
            <a:avLst>
              <a:gd name="adj" fmla="val 1333"/>
            </a:avLst>
          </a:prstGeom>
          <a:solidFill>
            <a:srgbClr val="DFEBDC"/>
          </a:solidFill>
          <a:ln w="12700">
            <a:solidFill>
              <a:srgbClr val="DFEBDC"/>
            </a:solidFill>
            <a:prstDash val="solid"/>
          </a:ln>
          <a:effectLst>
            <a:outerShdw blurRad="127000" dist="25400" dir="5400000" algn="bl" rotWithShape="0">
              <a:srgbClr val="3C4F38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057400"/>
            <a:ext cx="658368" cy="658368"/>
          </a:xfrm>
          <a:prstGeom prst="ellipse">
            <a:avLst/>
          </a:prstGeom>
          <a:solidFill>
            <a:srgbClr val="2F5D34"/>
          </a:solidFill>
          <a:ln w="12700">
            <a:solidFill>
              <a:srgbClr val="2F5D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057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871216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F5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Integration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511296"/>
            <a:ext cx="28529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the RTSP/ONVIF cameras already installed, no hardware swap needed. Handles 8–16 live streams at 25 FPS, scaling from one outpost to thousands nationwide.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34256" y="1783080"/>
            <a:ext cx="3584448" cy="3429000"/>
          </a:xfrm>
          <a:prstGeom prst="roundRect">
            <a:avLst>
              <a:gd name="adj" fmla="val 1333"/>
            </a:avLst>
          </a:prstGeom>
          <a:solidFill>
            <a:srgbClr val="F6EBCF"/>
          </a:solidFill>
          <a:ln w="12700">
            <a:solidFill>
              <a:srgbClr val="F6EBCF"/>
            </a:solidFill>
            <a:prstDash val="solid"/>
          </a:ln>
          <a:effectLst>
            <a:outerShdw blurRad="127000" dist="25400" dir="5400000" algn="bl" rotWithShape="0">
              <a:srgbClr val="3C4F3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0016" y="2057400"/>
            <a:ext cx="658368" cy="658368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00016" y="2057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00016" y="2871216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Security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700016" y="3511296"/>
            <a:ext cx="28529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Wind, rain, and wildlife can trigger false alarms; the system still has to hold sub-50ms response while staying air-gapped and MHA-compliant.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11312" y="1783080"/>
            <a:ext cx="3584448" cy="3429000"/>
          </a:xfrm>
          <a:prstGeom prst="roundRect">
            <a:avLst>
              <a:gd name="adj" fmla="val 1333"/>
            </a:avLst>
          </a:prstGeom>
          <a:solidFill>
            <a:srgbClr val="ECF0DF"/>
          </a:solidFill>
          <a:ln w="12700">
            <a:solidFill>
              <a:srgbClr val="ECF0DF"/>
            </a:solidFill>
            <a:prstDash val="solid"/>
          </a:ln>
          <a:effectLst>
            <a:outerShdw blurRad="127000" dist="25400" dir="5400000" algn="bl" rotWithShape="0">
              <a:srgbClr val="3C4F38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77072" y="2057400"/>
            <a:ext cx="658368" cy="658368"/>
          </a:xfrm>
          <a:prstGeom prst="ellipse">
            <a:avLst/>
          </a:prstGeom>
          <a:solidFill>
            <a:srgbClr val="76965B"/>
          </a:solidFill>
          <a:ln w="12700">
            <a:solidFill>
              <a:srgbClr val="76965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77072" y="2057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577072" y="2871216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69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Value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577072" y="3511296"/>
            <a:ext cx="28529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tracking filters out false alarms, on-device inference keeps latency low, and owning the IP outright cuts licensing risk and cost.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3410712" y="109728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E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76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Force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327648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Sentry AI — Impact  ·  runs on-prem or cloud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3584448" cy="4206240"/>
          </a:xfrm>
          <a:prstGeom prst="roundRect">
            <a:avLst>
              <a:gd name="adj" fmla="val 1276"/>
            </a:avLst>
          </a:prstGeom>
          <a:solidFill>
            <a:srgbClr val="DFEBDC"/>
          </a:solidFill>
          <a:ln w="12700">
            <a:solidFill>
              <a:srgbClr val="DFEB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783080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5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reliability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2286000"/>
            <a:ext cx="3035808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2450592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F5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 fewer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980944"/>
            <a:ext cx="2706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3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intrusions caused by operator fatigue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986784"/>
            <a:ext cx="3035808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" y="4151376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F5D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Day, night, fog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4681728"/>
            <a:ext cx="2706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3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performance in zero-lux and monsoon conditions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34256" y="1600200"/>
            <a:ext cx="3584448" cy="4206240"/>
          </a:xfrm>
          <a:prstGeom prst="roundRect">
            <a:avLst>
              <a:gd name="adj" fmla="val 1276"/>
            </a:avLst>
          </a:prstGeom>
          <a:solidFill>
            <a:srgbClr val="F6EBCF"/>
          </a:solidFill>
          <a:ln w="12700">
            <a:solidFill>
              <a:srgbClr val="F6EBC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08576" y="1783080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speed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608576" y="2286000"/>
            <a:ext cx="3035808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73168" y="2450592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&lt;50ms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4773168" y="2980944"/>
            <a:ext cx="2706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3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Siren trigger, before a fence breach completes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08576" y="3986784"/>
            <a:ext cx="3035808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73168" y="4151376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10x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4773168" y="4681728"/>
            <a:ext cx="2706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3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force multiplier per shift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11312" y="1600200"/>
            <a:ext cx="3584448" cy="4206240"/>
          </a:xfrm>
          <a:prstGeom prst="roundRect">
            <a:avLst>
              <a:gd name="adj" fmla="val 1276"/>
            </a:avLst>
          </a:prstGeom>
          <a:solidFill>
            <a:srgbClr val="ECF0DF"/>
          </a:solidFill>
          <a:ln w="12700">
            <a:solidFill>
              <a:srgbClr val="ECF0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85632" y="1783080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69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sovereignty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8485632" y="2286000"/>
            <a:ext cx="3035808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50224" y="2450592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769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99.8% less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8650224" y="2980944"/>
            <a:ext cx="2706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3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— under 5KB telemetry, no raw video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485632" y="3986784"/>
            <a:ext cx="3035808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50224" y="4151376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769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indigenous</a:t>
            </a:r>
            <a:endParaRPr lang="en-US" sz="2100" dirty="0"/>
          </a:p>
        </p:txBody>
      </p:sp>
      <p:sp>
        <p:nvSpPr>
          <p:cNvPr id="31" name="Text 29"/>
          <p:cNvSpPr txBox="1"/>
          <p:nvPr/>
        </p:nvSpPr>
        <p:spPr>
          <a:xfrm>
            <a:off x="8650224" y="4681728"/>
            <a:ext cx="2706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3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Air-gapped, zero camera or cloud cost, saving crores nationwide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3685409" y="118872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6F1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276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C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Force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327648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7C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207008"/>
            <a:ext cx="3520440" cy="1316736"/>
          </a:xfrm>
          <a:prstGeom prst="hexagon">
            <a:avLst/>
          </a:prstGeom>
          <a:solidFill>
            <a:srgbClr val="DFEBDC"/>
          </a:solidFill>
          <a:ln w="15875">
            <a:solidFill>
              <a:srgbClr val="2F5D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33856" y="1207008"/>
            <a:ext cx="238658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YOLOv10 / TensorRT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34256" y="1207008"/>
            <a:ext cx="3520440" cy="1316736"/>
          </a:xfrm>
          <a:prstGeom prst="hexagon">
            <a:avLst/>
          </a:prstGeom>
          <a:solidFill>
            <a:srgbClr val="F6EBCF"/>
          </a:solidFill>
          <a:ln w="15875">
            <a:solidFill>
              <a:srgbClr val="C89B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01184" y="1207008"/>
            <a:ext cx="238658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Zero-DCE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low-light net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01584" y="1207008"/>
            <a:ext cx="3520440" cy="1316736"/>
          </a:xfrm>
          <a:prstGeom prst="hexagon">
            <a:avLst/>
          </a:prstGeom>
          <a:solidFill>
            <a:srgbClr val="ECF0DF"/>
          </a:solidFill>
          <a:ln w="15875">
            <a:solidFill>
              <a:srgbClr val="7696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68512" y="1207008"/>
            <a:ext cx="238658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Channel Prior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de-hazing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2724912"/>
            <a:ext cx="3520440" cy="1316736"/>
          </a:xfrm>
          <a:prstGeom prst="hexagon">
            <a:avLst/>
          </a:prstGeom>
          <a:solidFill>
            <a:srgbClr val="F6EBCF"/>
          </a:solidFill>
          <a:ln w="15875">
            <a:solidFill>
              <a:srgbClr val="C89B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33856" y="2724912"/>
            <a:ext cx="238658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tracking,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Shapely / PostGIS geo-fencing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34256" y="2724912"/>
            <a:ext cx="3520440" cy="1316736"/>
          </a:xfrm>
          <a:prstGeom prst="hexagon">
            <a:avLst/>
          </a:prstGeom>
          <a:solidFill>
            <a:srgbClr val="ECF0DF"/>
          </a:solidFill>
          <a:ln w="15875">
            <a:solidFill>
              <a:srgbClr val="7696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01184" y="2724912"/>
            <a:ext cx="238658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MHA border security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01584" y="2724912"/>
            <a:ext cx="3520440" cy="1316736"/>
          </a:xfrm>
          <a:prstGeom prst="hexagon">
            <a:avLst/>
          </a:prstGeom>
          <a:solidFill>
            <a:srgbClr val="DFEBDC"/>
          </a:solidFill>
          <a:ln w="15875">
            <a:solidFill>
              <a:srgbClr val="2F5D3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68512" y="2724912"/>
            <a:ext cx="238658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Xplore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research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22452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C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links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4572000"/>
            <a:ext cx="11155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u="sng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https://share.google/nrDVcggJPgYza9gpf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u="sng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https://www.newindianexpress.com/india/2026/Feb/26/bsf-to-replace-human-surveillance-with-ai-powered-monitoring-system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u="sng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https://share.google/YXExumJ1e29tTulKD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u="sng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https://www.viact.ai/video-analytics-solution/perimeter-intrusion-detection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u="sng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https://kabatone.com/resources/cctv-video-analytics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534</Words>
  <Application>Microsoft Office PowerPoint</Application>
  <PresentationFormat>Widescreen</PresentationFormat>
  <Paragraphs>113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Rajkumar Paradkar</cp:lastModifiedBy>
  <cp:revision>2</cp:revision>
  <dcterms:created xsi:type="dcterms:W3CDTF">2026-09-19T09:37:44Z</dcterms:created>
  <dcterms:modified xsi:type="dcterms:W3CDTF">2026-09-19T09:42:07Z</dcterms:modified>
</cp:coreProperties>
</file>